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image" Target="../media/image-2-1.png"/><Relationship Id="rId5" Type="http://schemas.openxmlformats.org/officeDocument/2006/relationships/image" Target="../media/image-2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2.png"/><Relationship Id="rId5" Type="http://schemas.openxmlformats.org/officeDocument/2006/relationships/image" Target="../media/image-3-5.png"/><Relationship Id="rId6" Type="http://schemas.openxmlformats.org/officeDocument/2006/relationships/image" Target="../media/image-3-2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2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00C2A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108960" cy="3108960"/>
          </a:xfrm>
          <a:prstGeom prst="ellipse">
            <a:avLst/>
          </a:prstGeom>
          <a:solidFill>
            <a:srgbClr val="00C2A8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2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자동화 플랫폼 · 사업계획서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마케팅 AI 분석기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7E2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데이터를 정리하는 시간을, 성과를 올리는 시간으로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6172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4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Business Plan ·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894015" y="6172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B4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9511dasol@gmail.com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08415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3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마케팅 AI 분석기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80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68096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52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월간 리포트, 아직도 반나절이 걸립니다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559509" cy="137160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139696"/>
            <a:ext cx="155950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80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487168"/>
            <a:ext cx="14680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52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CSV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52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다운로드</a:t>
            </a:r>
            <a:endParaRPr lang="en-US" sz="1300" dirty="0"/>
          </a:p>
        </p:txBody>
      </p:sp>
      <p:pic>
        <p:nvPicPr>
          <p:cNvPr id="8" name="Image 0" descr="C:\Users\LG\AppData\Local\Temp\claude\C--Users-LG-Downloads-Project-SYProject\9a7f8fe9-c2e4-43a6-afc6-0cb03955ce6b\scratchpad\ppt\icons\arrow_r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4453" y="2596896"/>
            <a:ext cx="201168" cy="20116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510485" y="2011680"/>
            <a:ext cx="1559509" cy="137160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510485" y="2139696"/>
            <a:ext cx="155950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80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556205" y="2487168"/>
            <a:ext cx="14680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52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엑셀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52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300" dirty="0"/>
          </a:p>
        </p:txBody>
      </p:sp>
      <p:pic>
        <p:nvPicPr>
          <p:cNvPr id="12" name="Image 1" descr="C:\Users\LG\AppData\Local\Temp\claude\C--Users-LG-Downloads-Project-SYProject\9a7f8fe9-c2e4-43a6-afc6-0cb03955ce6b\scratchpad\ppt\icons\arrow_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4858" y="2596896"/>
            <a:ext cx="201168" cy="20116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380890" y="2011680"/>
            <a:ext cx="1559509" cy="137160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380890" y="2139696"/>
            <a:ext cx="155950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80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426610" y="2487168"/>
            <a:ext cx="14680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52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서식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52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</a:t>
            </a:r>
            <a:endParaRPr lang="en-US" sz="1300" dirty="0"/>
          </a:p>
        </p:txBody>
      </p:sp>
      <p:pic>
        <p:nvPicPr>
          <p:cNvPr id="16" name="Image 2" descr="C:\Users\LG\AppData\Local\Temp\claude\C--Users-LG-Downloads-Project-SYProject\9a7f8fe9-c2e4-43a6-afc6-0cb03955ce6b\scratchpad\ppt\icons\arrow_r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5264" y="2596896"/>
            <a:ext cx="201168" cy="20116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251296" y="2011680"/>
            <a:ext cx="1559509" cy="137160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6251296" y="2139696"/>
            <a:ext cx="155950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80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297016" y="2487168"/>
            <a:ext cx="14680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52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전월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52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</a:t>
            </a:r>
            <a:endParaRPr lang="en-US" sz="1300" dirty="0"/>
          </a:p>
        </p:txBody>
      </p:sp>
      <p:pic>
        <p:nvPicPr>
          <p:cNvPr id="20" name="Image 3" descr="C:\Users\LG\AppData\Local\Temp\claude\C--Users-LG-Downloads-Project-SYProject\9a7f8fe9-c2e4-43a6-afc6-0cb03955ce6b\scratchpad\ppt\icons\arrow_r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5669" y="2596896"/>
            <a:ext cx="201168" cy="201168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8121701" y="2011680"/>
            <a:ext cx="1559509" cy="137160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8121701" y="2139696"/>
            <a:ext cx="155950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80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167421" y="2487168"/>
            <a:ext cx="14680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52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코멘트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52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</a:t>
            </a:r>
            <a:endParaRPr lang="en-US" sz="1300" dirty="0"/>
          </a:p>
        </p:txBody>
      </p:sp>
      <p:pic>
        <p:nvPicPr>
          <p:cNvPr id="24" name="Image 4" descr="C:\Users\LG\AppData\Local\Temp\claude\C--Users-LG-Downloads-Project-SYProject\9a7f8fe9-c2e4-43a6-afc6-0cb03955ce6b\scratchpad\ppt\icons\arrow_r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6074" y="2596896"/>
            <a:ext cx="201168" cy="201168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9992106" y="2011680"/>
            <a:ext cx="1559509" cy="137160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26" name="Text 19"/>
          <p:cNvSpPr/>
          <p:nvPr/>
        </p:nvSpPr>
        <p:spPr>
          <a:xfrm>
            <a:off x="9992106" y="2139696"/>
            <a:ext cx="155950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80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10037826" y="2487168"/>
            <a:ext cx="14680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52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52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발송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640080" y="3794760"/>
            <a:ext cx="10911535" cy="1691640"/>
          </a:xfrm>
          <a:prstGeom prst="roundRect">
            <a:avLst>
              <a:gd name="adj" fmla="val 5405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29" name="Text 22"/>
          <p:cNvSpPr/>
          <p:nvPr/>
        </p:nvSpPr>
        <p:spPr>
          <a:xfrm>
            <a:off x="1097280" y="4069080"/>
            <a:ext cx="9997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561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데이터가 늘어도, 매체가 늘어도 이 과정은 줄지 않습니다.</a:t>
            </a:r>
            <a:endParaRPr lang="en-US" sz="1700" dirty="0"/>
          </a:p>
        </p:txBody>
      </p:sp>
      <p:sp>
        <p:nvSpPr>
          <p:cNvPr id="30" name="Text 23"/>
          <p:cNvSpPr/>
          <p:nvPr/>
        </p:nvSpPr>
        <p:spPr>
          <a:xfrm>
            <a:off x="1097280" y="4572000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52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정작 </a:t>
            </a:r>
            <a:pPr indent="0" marL="0">
              <a:buNone/>
            </a:pPr>
            <a:r>
              <a:rPr lang="en-US" sz="2300" b="1" dirty="0">
                <a:solidFill>
                  <a:srgbClr val="0080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성과를 해석하고 다음 액션을 정하는 일</a:t>
            </a:r>
            <a:pPr indent="0" marL="0">
              <a:buNone/>
            </a:pPr>
            <a:r>
              <a:rPr lang="en-US" sz="2300" b="1" dirty="0">
                <a:solidFill>
                  <a:srgbClr val="152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 뒤로 밀립니다.</a:t>
            </a:r>
            <a:endParaRPr lang="en-US" sz="2300" dirty="0"/>
          </a:p>
        </p:txBody>
      </p:sp>
      <p:sp>
        <p:nvSpPr>
          <p:cNvPr id="31" name="Text 24"/>
          <p:cNvSpPr/>
          <p:nvPr/>
        </p:nvSpPr>
        <p:spPr>
          <a:xfrm>
            <a:off x="10180015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3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/ 12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08415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7E2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마케팅 AI 분석기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68096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하나의 화면, 하나의 계정에서 끝냅니다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D7E2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매체·전환 데이터를 올리면 리포트 집계부터 AI 분석 코멘트 작성, 메일 발송까지 자동으로 이어지는 마케팅 실무 자동화 플랫폼입니다.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866748" y="3703320"/>
            <a:ext cx="1051560" cy="10515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7" name="Image 0" descr="C:\Users\LG\AppData\Local\Temp\claude\C--Users-LG-Downloads-Project-SYProject\9a7f8fe9-c2e4-43a6-afc6-0cb03955ce6b\scratchpad\ppt\icons\up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9122" y="3955694"/>
            <a:ext cx="546811" cy="54681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0988" y="491947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업로드</a:t>
            </a:r>
            <a:endParaRPr lang="en-US" sz="1400" dirty="0"/>
          </a:p>
        </p:txBody>
      </p:sp>
      <p:pic>
        <p:nvPicPr>
          <p:cNvPr id="9" name="Image 1" descr="C:\Users\LG\AppData\Local\Temp\claude\C--Users-LG-Downloads-Project-SYProject\9a7f8fe9-c2e4-43a6-afc6-0cb03955ce6b\scratchpad\ppt\icons\arrow_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8096" y="4110228"/>
            <a:ext cx="237744" cy="23774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335628" y="3703320"/>
            <a:ext cx="1051560" cy="10515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1" name="Image 2" descr="C:\Users\LG\AppData\Local\Temp\claude\C--Users-LG-Downloads-Project-SYProject\9a7f8fe9-c2e4-43a6-afc6-0cb03955ce6b\scratchpad\ppt\icons\bar_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8002" y="3955694"/>
            <a:ext cx="546811" cy="54681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969868" y="491947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집계</a:t>
            </a:r>
            <a:endParaRPr lang="en-US" sz="1400" dirty="0"/>
          </a:p>
        </p:txBody>
      </p:sp>
      <p:pic>
        <p:nvPicPr>
          <p:cNvPr id="13" name="Image 3" descr="C:\Users\LG\AppData\Local\Temp\claude\C--Users-LG-Downloads-Project-SYProject\9a7f8fe9-c2e4-43a6-afc6-0cb03955ce6b\scratchpad\ppt\icons\arrow_r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6976" y="4110228"/>
            <a:ext cx="237744" cy="237744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804508" y="3703320"/>
            <a:ext cx="1051560" cy="10515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5" name="Image 4" descr="C:\Users\LG\AppData\Local\Temp\claude\C--Users-LG-Downloads-Project-SYProject\9a7f8fe9-c2e4-43a6-afc6-0cb03955ce6b\scratchpad\ppt\icons\edi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6882" y="3955694"/>
            <a:ext cx="546811" cy="54681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438748" y="491947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코멘트</a:t>
            </a:r>
            <a:endParaRPr lang="en-US" sz="1400" dirty="0"/>
          </a:p>
        </p:txBody>
      </p:sp>
      <p:pic>
        <p:nvPicPr>
          <p:cNvPr id="17" name="Image 5" descr="C:\Users\LG\AppData\Local\Temp\claude\C--Users-LG-Downloads-Project-SYProject\9a7f8fe9-c2e4-43a6-afc6-0cb03955ce6b\scratchpad\ppt\icons\arrow_r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5856" y="4110228"/>
            <a:ext cx="237744" cy="237744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9273388" y="3703320"/>
            <a:ext cx="1051560" cy="10515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9" name="Image 6" descr="C:\Users\LG\AppData\Local\Temp\claude\C--Users-LG-Downloads-Project-SYProject\9a7f8fe9-c2e4-43a6-afc6-0cb03955ce6b\scratchpad\ppt\icons\sen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762" y="3955694"/>
            <a:ext cx="546811" cy="546811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8907628" y="491947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발송</a:t>
            </a:r>
            <a:endParaRPr lang="en-US" sz="1400" dirty="0"/>
          </a:p>
        </p:txBody>
      </p:sp>
      <p:sp>
        <p:nvSpPr>
          <p:cNvPr id="21" name="Text 12"/>
          <p:cNvSpPr/>
          <p:nvPr/>
        </p:nvSpPr>
        <p:spPr>
          <a:xfrm>
            <a:off x="640080" y="562356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0C2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번의 업로드로, 나머지는 시스템이 이어받습니다.</a:t>
            </a:r>
            <a:endParaRPr lang="en-US" sz="1500" dirty="0"/>
          </a:p>
        </p:txBody>
      </p:sp>
      <p:sp>
        <p:nvSpPr>
          <p:cNvPr id="22" name="Text 13"/>
          <p:cNvSpPr/>
          <p:nvPr/>
        </p:nvSpPr>
        <p:spPr>
          <a:xfrm>
            <a:off x="10180015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7E2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/ 12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08415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3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마케팅 AI 분석기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80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BEFORE / AFTER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68096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52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달라지나요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1153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160520"/>
                <a:gridCol w="4922215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13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기존 방식</a:t>
                      </a:r>
                      <a:endParaRPr lang="en-US" sz="13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C2A8"/>
                          </a:solidFill>
                        </a:rPr>
                        <a:t>마케팅 AI 분석기</a:t>
                      </a:r>
                      <a:endParaRPr lang="en-US" sz="13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5213D"/>
                          </a:solidFill>
                        </a:rPr>
                        <a:t>데이터 취합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5617A"/>
                          </a:solidFill>
                        </a:rPr>
                        <a:t>매체별 파일을 열어 수작업 병합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806E"/>
                          </a:solidFill>
                        </a:rPr>
                        <a:t>CSV·Excel 드래그 앤 드롭 → 자동 집계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5213D"/>
                          </a:solidFill>
                        </a:rPr>
                        <a:t>기간 관리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5617A"/>
                          </a:solidFill>
                        </a:rPr>
                        <a:t>파일명과 폴더로 관리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806E"/>
                          </a:solidFill>
                        </a:rPr>
                        <a:t>연·월 단위 DB 저장, 언제든 재조회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5213D"/>
                          </a:solidFill>
                        </a:rPr>
                        <a:t>성과 코멘트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5617A"/>
                          </a:solidFill>
                        </a:rPr>
                        <a:t>담당자가 직접 작성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806E"/>
                          </a:solidFill>
                        </a:rPr>
                        <a:t>AI가 초안 작성 → 사람이 검토·수정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5213D"/>
                          </a:solidFill>
                        </a:rPr>
                        <a:t>전월 비교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5617A"/>
                          </a:solidFill>
                        </a:rPr>
                        <a:t>눈으로 대조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806E"/>
                          </a:solidFill>
                        </a:rPr>
                        <a:t>키워드 단위 자동 비교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5213D"/>
                          </a:solidFill>
                        </a:rPr>
                        <a:t>리포트 전달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5617A"/>
                          </a:solidFill>
                        </a:rPr>
                        <a:t>파일 첨부해 수동 발송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806E"/>
                          </a:solidFill>
                        </a:rPr>
                        <a:t>화면에서 바로 발송 + 발송 로그 기록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5213D"/>
                          </a:solidFill>
                        </a:rPr>
                        <a:t>정기 리포트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5617A"/>
                          </a:solidFill>
                        </a:rPr>
                        <a:t>매달 잊지 않고 챙기기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806E"/>
                          </a:solidFill>
                        </a:rPr>
                        <a:t>매월 1일 자동 발송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0180015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3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/ 12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08415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3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마케팅 AI 분석기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80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CORE FEATURE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68096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52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 광고 대시보드 — 업로드 한 번, 집계 끝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713232" cy="713232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6" name="Image 0" descr="C:\Users\LG\AppData\Local\Temp\claude\C--Users-LG-Downloads-Project-SYProject\9a7f8fe9-c2e4-43a6-afc6-0cb03955ce6b\scratchpad\ppt\icons\up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256" y="2137136"/>
            <a:ext cx="370881" cy="37088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4767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CSV·Excel 드래그 앤 드롭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554480" y="23317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561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매체·전환 데이터를 올리면 연·월 단위로 자동 집계합니다.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136392"/>
            <a:ext cx="713232" cy="713232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0" name="Image 1" descr="C:\Users\LG\AppData\Local\Temp\claude\C--Users-LG-Downloads-Project-SYProject\9a7f8fe9-c2e4-43a6-afc6-0cb03955ce6b\scratchpad\ppt\icons\bar_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256" y="3307568"/>
            <a:ext cx="370881" cy="37088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31181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언제든 재조회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554480" y="350215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561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저장된 기간은 다시 조회하고 Excel로 재다운로드할 수 있습니다.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4306824"/>
            <a:ext cx="713232" cy="713232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4" name="Image 2" descr="C:\Users\LG\AppData\Local\Temp\claude\C--Users-LG-Downloads-Project-SYProject\9a7f8fe9-c2e4-43a6-afc6-0cb03955ce6b\scratchpad\ppt\icons\rot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256" y="4478000"/>
            <a:ext cx="370881" cy="37088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54480" y="428853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되돌리기 한 번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1554480" y="4672584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561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잘못 올린 데이터도 업로드 직전 상태로 바로 복원됩니다.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7178040" y="1965960"/>
            <a:ext cx="4370832" cy="3794760"/>
          </a:xfrm>
          <a:prstGeom prst="roundRect">
            <a:avLst>
              <a:gd name="adj" fmla="val 241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498080" y="2286000"/>
            <a:ext cx="3730752" cy="457200"/>
          </a:xfrm>
          <a:prstGeom prst="roundRect">
            <a:avLst>
              <a:gd name="adj" fmla="val 12000"/>
            </a:avLst>
          </a:prstGeom>
          <a:solidFill>
            <a:srgbClr val="15213D"/>
          </a:solidFill>
          <a:ln/>
        </p:spPr>
      </p:sp>
      <p:sp>
        <p:nvSpPr>
          <p:cNvPr id="19" name="Text 14"/>
          <p:cNvSpPr/>
          <p:nvPr/>
        </p:nvSpPr>
        <p:spPr>
          <a:xfrm>
            <a:off x="7680960" y="2286000"/>
            <a:ext cx="3364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8월 · 매체 성과 요약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7498080" y="4302252"/>
            <a:ext cx="484632" cy="955548"/>
          </a:xfrm>
          <a:prstGeom prst="roundRect">
            <a:avLst>
              <a:gd name="adj" fmla="val 5660"/>
            </a:avLst>
          </a:prstGeom>
          <a:solidFill>
            <a:srgbClr val="223259"/>
          </a:solidFill>
          <a:ln/>
        </p:spPr>
      </p:sp>
      <p:sp>
        <p:nvSpPr>
          <p:cNvPr id="21" name="Shape 16"/>
          <p:cNvSpPr/>
          <p:nvPr/>
        </p:nvSpPr>
        <p:spPr>
          <a:xfrm>
            <a:off x="8147304" y="3781044"/>
            <a:ext cx="484632" cy="1476756"/>
          </a:xfrm>
          <a:prstGeom prst="roundRect">
            <a:avLst>
              <a:gd name="adj" fmla="val 5660"/>
            </a:avLst>
          </a:prstGeom>
          <a:solidFill>
            <a:srgbClr val="223259"/>
          </a:solidFill>
          <a:ln/>
        </p:spPr>
      </p:sp>
      <p:sp>
        <p:nvSpPr>
          <p:cNvPr id="22" name="Shape 17"/>
          <p:cNvSpPr/>
          <p:nvPr/>
        </p:nvSpPr>
        <p:spPr>
          <a:xfrm>
            <a:off x="8796528" y="4128516"/>
            <a:ext cx="484632" cy="1129284"/>
          </a:xfrm>
          <a:prstGeom prst="roundRect">
            <a:avLst>
              <a:gd name="adj" fmla="val 5660"/>
            </a:avLst>
          </a:prstGeom>
          <a:solidFill>
            <a:srgbClr val="223259"/>
          </a:solidFill>
          <a:ln/>
        </p:spPr>
      </p:sp>
      <p:sp>
        <p:nvSpPr>
          <p:cNvPr id="23" name="Shape 18"/>
          <p:cNvSpPr/>
          <p:nvPr/>
        </p:nvSpPr>
        <p:spPr>
          <a:xfrm>
            <a:off x="9445752" y="3520440"/>
            <a:ext cx="484632" cy="1737360"/>
          </a:xfrm>
          <a:prstGeom prst="roundRect">
            <a:avLst>
              <a:gd name="adj" fmla="val 5660"/>
            </a:avLst>
          </a:prstGeom>
          <a:solidFill>
            <a:srgbClr val="00C2A8"/>
          </a:solidFill>
          <a:ln/>
        </p:spPr>
      </p:sp>
      <p:sp>
        <p:nvSpPr>
          <p:cNvPr id="24" name="Shape 19"/>
          <p:cNvSpPr/>
          <p:nvPr/>
        </p:nvSpPr>
        <p:spPr>
          <a:xfrm>
            <a:off x="10094976" y="3954780"/>
            <a:ext cx="484632" cy="1303020"/>
          </a:xfrm>
          <a:prstGeom prst="roundRect">
            <a:avLst>
              <a:gd name="adj" fmla="val 5660"/>
            </a:avLst>
          </a:prstGeom>
          <a:solidFill>
            <a:srgbClr val="223259"/>
          </a:solidFill>
          <a:ln/>
        </p:spPr>
      </p:sp>
      <p:sp>
        <p:nvSpPr>
          <p:cNvPr id="25" name="Shape 20"/>
          <p:cNvSpPr/>
          <p:nvPr/>
        </p:nvSpPr>
        <p:spPr>
          <a:xfrm>
            <a:off x="10744200" y="4475988"/>
            <a:ext cx="484632" cy="781812"/>
          </a:xfrm>
          <a:prstGeom prst="roundRect">
            <a:avLst>
              <a:gd name="adj" fmla="val 5660"/>
            </a:avLst>
          </a:prstGeom>
          <a:solidFill>
            <a:srgbClr val="223259"/>
          </a:solidFill>
          <a:ln/>
        </p:spPr>
      </p:sp>
      <p:sp>
        <p:nvSpPr>
          <p:cNvPr id="26" name="Shape 21"/>
          <p:cNvSpPr/>
          <p:nvPr/>
        </p:nvSpPr>
        <p:spPr>
          <a:xfrm>
            <a:off x="7498080" y="5349240"/>
            <a:ext cx="3730752" cy="0"/>
          </a:xfrm>
          <a:prstGeom prst="line">
            <a:avLst/>
          </a:prstGeom>
          <a:noFill/>
          <a:ln w="12700">
            <a:solidFill>
              <a:srgbClr val="D7DEEC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10180015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3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/ 12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08415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3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마케팅 AI 분석기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80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CORE FEATURE 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68096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52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코멘트를 쓰고, 시스템이 제때 보냅니다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4370832" cy="3794760"/>
          </a:xfrm>
          <a:prstGeom prst="roundRect">
            <a:avLst>
              <a:gd name="adj" fmla="val 241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322576" y="2377440"/>
            <a:ext cx="1005840" cy="1005840"/>
          </a:xfrm>
          <a:prstGeom prst="ellipse">
            <a:avLst/>
          </a:prstGeom>
          <a:solidFill>
            <a:srgbClr val="15213D"/>
          </a:solidFill>
          <a:ln/>
        </p:spPr>
      </p:sp>
      <p:pic>
        <p:nvPicPr>
          <p:cNvPr id="7" name="Image 0" descr="C:\Users\LG\AppData\Local\Temp\claude\C--Users-LG-Downloads-Project-SYProject\9a7f8fe9-c2e4-43a6-afc6-0cb03955ce6b\scratchpad\ppt\icons\s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3978" y="2618842"/>
            <a:ext cx="523037" cy="52303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097280" y="3840480"/>
            <a:ext cx="2696017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1097280" y="4151376"/>
            <a:ext cx="2142988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1097280" y="4462272"/>
            <a:ext cx="3110789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1097280" y="4773168"/>
            <a:ext cx="1728216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1005840" y="5257800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0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7월 리포트가 발송되었습니다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178040" y="1965960"/>
            <a:ext cx="713232" cy="713232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4" name="Image 1" descr="C:\Users\LG\AppData\Local\Temp\claude\C--Users-LG-Downloads-Project-SYProject\9a7f8fe9-c2e4-43a6-afc6-0cb03955ce6b\scratchpad\ppt\icons\ed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9216" y="2137136"/>
            <a:ext cx="370881" cy="37088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092440" y="1947672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코멘트 초안 작성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8092440" y="2331720"/>
            <a:ext cx="3456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5561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기간별 성과 변화를 읽고 리포트 코멘트 초안을 자동으로 씁니다.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7178040" y="3136392"/>
            <a:ext cx="713232" cy="713232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8" name="Image 2" descr="C:\Users\LG\AppData\Local\Temp\claude\C--Users-LG-Downloads-Project-SYProject\9a7f8fe9-c2e4-43a6-afc6-0cb03955ce6b\scratchpad\ppt\icons\check_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9216" y="3307568"/>
            <a:ext cx="370881" cy="37088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092440" y="3118104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 후 바로 발송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092440" y="3502152"/>
            <a:ext cx="3456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5561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담당자는 검토·수정만 하면 됩니다. 발송 이력과 실패 재발송까지 기록됩니다.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7178040" y="4306824"/>
            <a:ext cx="713232" cy="713232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2" name="Image 3" descr="C:\Users\LG\AppData\Local\Temp\claude\C--Users-LG-Downloads-Project-SYProject\9a7f8fe9-c2e4-43a6-afc6-0cb03955ce6b\scratchpad\ppt\icons\calend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9216" y="4478000"/>
            <a:ext cx="370881" cy="37088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092440" y="4288536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매월 1일 자동 발송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8092440" y="4672584"/>
            <a:ext cx="3456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5561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지정한 수신자에게 전월 리포트가 자동으로 나갑니다.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10180015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3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/ 12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08415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3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마케팅 AI 분석기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80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CORE FEATURE 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68096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52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리포트, 그 이상의 자동화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393338" cy="3794760"/>
          </a:xfrm>
          <a:prstGeom prst="roundRect">
            <a:avLst>
              <a:gd name="adj" fmla="val 2695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331720"/>
            <a:ext cx="777240" cy="7772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7" name="Image 0" descr="C:\Users\LG\AppData\Local\Temp\claude\C--Users-LG-Downloads-Project-SYProject\9a7f8fe9-c2e4-43a6-afc6-0cb03955ce6b\scratchpad\ppt\icons\repe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2378" y="2518258"/>
            <a:ext cx="404165" cy="4041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3337560"/>
            <a:ext cx="2661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키워드 성과 비교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05840" y="3886200"/>
            <a:ext cx="266181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561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전기간 대비 키워드 전환 성과를 자동으로 맞대어 보여줍니다. 무엇이 올랐고 무엇이 빠졌는지 찾아다닐 필요가 없습니다.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99178" y="1965960"/>
            <a:ext cx="3393338" cy="3794760"/>
          </a:xfrm>
          <a:prstGeom prst="roundRect">
            <a:avLst>
              <a:gd name="adj" fmla="val 2695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64938" y="2331720"/>
            <a:ext cx="777240" cy="7772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2" name="Image 1" descr="C:\Users\LG\AppData\Local\Temp\claude\C--Users-LG-Downloads-Project-SYProject\9a7f8fe9-c2e4-43a6-afc6-0cb03955ce6b\scratchpad\ppt\icons\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1476" y="2518258"/>
            <a:ext cx="404165" cy="40416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64938" y="3337560"/>
            <a:ext cx="2661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 정제 · 리사이저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764938" y="3886200"/>
            <a:ext cx="266181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561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 이미지에 문장으로 수정을 지시하면 AI가 그대로 반영하고, 매체별 규격에 맞춰 자동으로 변환합니다.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58277" y="1965960"/>
            <a:ext cx="3393338" cy="3794760"/>
          </a:xfrm>
          <a:prstGeom prst="roundRect">
            <a:avLst>
              <a:gd name="adj" fmla="val 2695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24037" y="2331720"/>
            <a:ext cx="777240" cy="7772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7" name="Image 2" descr="C:\Users\LG\AppData\Local\Temp\claude\C--Users-LG-Downloads-Project-SYProject\9a7f8fe9-c2e4-43a6-afc6-0cb03955ce6b\scratchpad\ppt\icons\bul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0574" y="2518258"/>
            <a:ext cx="404165" cy="40416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24037" y="3337560"/>
            <a:ext cx="2661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헤딩 문구 추천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524037" y="3886200"/>
            <a:ext cx="266181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561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소재 이미지를 분석해 매체별 헤딩 문구를 제안합니다. 생성한 문구는 기록에 쌓여 다시 찾아 쓸 수 있습니다.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0180015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3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 / 12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08415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3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마케팅 AI 분석기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80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IMPACT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68096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52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자동화가 만든 변화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295748" cy="1783080"/>
          </a:xfrm>
          <a:prstGeom prst="roundRect">
            <a:avLst>
              <a:gd name="adj" fmla="val 5128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194560"/>
            <a:ext cx="777240" cy="777240"/>
          </a:xfrm>
          <a:prstGeom prst="ellipse">
            <a:avLst/>
          </a:prstGeom>
          <a:solidFill>
            <a:srgbClr val="15213D"/>
          </a:solidFill>
          <a:ln/>
        </p:spPr>
      </p:sp>
      <p:pic>
        <p:nvPicPr>
          <p:cNvPr id="7" name="Image 0" descr="C:\Users\LG\AppData\Local\Temp\claude\C--Users-LG-Downloads-Project-SYProject\9a7f8fe9-c2e4-43a6-afc6-0cb03955ce6b\scratchpad\ppt\icons\arrow_r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2202" y="2396642"/>
            <a:ext cx="373075" cy="3730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20240" y="2148840"/>
            <a:ext cx="37412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80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6단계 → 1번 업로드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920240" y="2587752"/>
            <a:ext cx="37412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61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CSV 다운로드부터 메일 발송까지 이어지던 수작업이 업로드 한 번으로 압축됩니다.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55868" y="1874520"/>
            <a:ext cx="5295748" cy="1783080"/>
          </a:xfrm>
          <a:prstGeom prst="roundRect">
            <a:avLst>
              <a:gd name="adj" fmla="val 5128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75908" y="2194560"/>
            <a:ext cx="777240" cy="777240"/>
          </a:xfrm>
          <a:prstGeom prst="ellipse">
            <a:avLst/>
          </a:prstGeom>
          <a:solidFill>
            <a:srgbClr val="15213D"/>
          </a:solidFill>
          <a:ln/>
        </p:spPr>
      </p:sp>
      <p:pic>
        <p:nvPicPr>
          <p:cNvPr id="12" name="Image 1" descr="C:\Users\LG\AppData\Local\Temp\claude\C--Users-LG-Downloads-Project-SYProject\9a7f8fe9-c2e4-43a6-afc6-0cb03955ce6b\scratchpad\ppt\icons\calend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990" y="2396642"/>
            <a:ext cx="373075" cy="3730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36028" y="2148840"/>
            <a:ext cx="37412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80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매월 1일 자동 발송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7536028" y="2587752"/>
            <a:ext cx="37412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61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담당자가 따로 챙기지 않아도 정기 리포트가 자동으로 나갑니다.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" y="3977640"/>
            <a:ext cx="5295748" cy="1783080"/>
          </a:xfrm>
          <a:prstGeom prst="roundRect">
            <a:avLst>
              <a:gd name="adj" fmla="val 5128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60120" y="4297680"/>
            <a:ext cx="777240" cy="777240"/>
          </a:xfrm>
          <a:prstGeom prst="ellipse">
            <a:avLst/>
          </a:prstGeom>
          <a:solidFill>
            <a:srgbClr val="15213D"/>
          </a:solidFill>
          <a:ln/>
        </p:spPr>
      </p:sp>
      <p:pic>
        <p:nvPicPr>
          <p:cNvPr id="17" name="Image 2" descr="C:\Users\LG\AppData\Local\Temp\claude\C--Users-LG-Downloads-Project-SYProject\9a7f8fe9-c2e4-43a6-afc6-0cb03955ce6b\scratchpad\ppt\icons\file_tex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202" y="4499762"/>
            <a:ext cx="373075" cy="37307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920240" y="4251960"/>
            <a:ext cx="37412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80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86MB → 515KB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1920240" y="4690872"/>
            <a:ext cx="37412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61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무겁던 리포트 템플릿을 가볍게 만들어 처리 속도를 높였습니다.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255868" y="3977640"/>
            <a:ext cx="5295748" cy="1783080"/>
          </a:xfrm>
          <a:prstGeom prst="roundRect">
            <a:avLst>
              <a:gd name="adj" fmla="val 5128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75908" y="4297680"/>
            <a:ext cx="777240" cy="777240"/>
          </a:xfrm>
          <a:prstGeom prst="ellipse">
            <a:avLst/>
          </a:prstGeom>
          <a:solidFill>
            <a:srgbClr val="15213D"/>
          </a:solidFill>
          <a:ln/>
        </p:spPr>
      </p:sp>
      <p:pic>
        <p:nvPicPr>
          <p:cNvPr id="22" name="Image 3" descr="C:\Users\LG\AppData\Local\Temp\claude\C--Users-LG-Downloads-Project-SYProject\9a7f8fe9-c2e4-43a6-afc6-0cb03955ce6b\scratchpad\ppt\icons\doll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7990" y="4499762"/>
            <a:ext cx="373075" cy="37307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536028" y="4251960"/>
            <a:ext cx="37412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80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비용 자동 통제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7536028" y="4690872"/>
            <a:ext cx="37412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61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사용량을 실시간으로 집계하고, 예산을 넘으면 자동으로 차단합니다.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0180015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3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 / 12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08415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3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마케팅 AI 분석기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80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RELIABILITY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68096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52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안정적으로 운영되는 자동화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295748" cy="1783080"/>
          </a:xfrm>
          <a:prstGeom prst="roundRect">
            <a:avLst>
              <a:gd name="adj" fmla="val 5128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194560"/>
            <a:ext cx="777240" cy="7772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7" name="Image 0" descr="C:\Users\LG\AppData\Local\Temp\claude\C--Users-LG-Downloads-Project-SYProject\9a7f8fe9-c2e4-43a6-afc6-0cb03955ce6b\scratchpad\ppt\icons\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6658" y="2381098"/>
            <a:ext cx="404165" cy="4041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20240" y="2148840"/>
            <a:ext cx="37412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벤더 종속 없는 AI 구조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920240" y="2569464"/>
            <a:ext cx="37412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61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Claude · Gemini · OpenAI를 상황에 맞게 교체할 수 있는 구조로 설계했습니다.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55868" y="1874520"/>
            <a:ext cx="5295748" cy="1783080"/>
          </a:xfrm>
          <a:prstGeom prst="roundRect">
            <a:avLst>
              <a:gd name="adj" fmla="val 5128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75908" y="2194560"/>
            <a:ext cx="777240" cy="7772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2" name="Image 1" descr="C:\Users\LG\AppData\Local\Temp\claude\C--Users-LG-Downloads-Project-SYProject\9a7f8fe9-c2e4-43a6-afc6-0cb03955ce6b\scratchpad\ppt\icons\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445" y="2381098"/>
            <a:ext cx="404165" cy="40416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36028" y="2148840"/>
            <a:ext cx="37412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노출되지 않는 인증 정보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536028" y="2569464"/>
            <a:ext cx="37412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61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 토큰이 브라우저에 직접 노출되지 않도록 서버가 대신 처리합니다.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" y="3977640"/>
            <a:ext cx="5295748" cy="1783080"/>
          </a:xfrm>
          <a:prstGeom prst="roundRect">
            <a:avLst>
              <a:gd name="adj" fmla="val 5128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60120" y="4297680"/>
            <a:ext cx="777240" cy="7772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7" name="Image 2" descr="C:\Users\LG\AppData\Local\Temp\claude\C--Users-LG-Downloads-Project-SYProject\9a7f8fe9-c2e4-43a6-afc6-0cb03955ce6b\scratchpad\ppt\icons\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658" y="4484218"/>
            <a:ext cx="404165" cy="40416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920240" y="4251960"/>
            <a:ext cx="37412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테스트로 검증된 안정성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920240" y="4672584"/>
            <a:ext cx="37412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61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로직을 자동화된 테스트로 검증해 변경할 때마다 안정성을 확인합니다.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255868" y="3977640"/>
            <a:ext cx="5295748" cy="1783080"/>
          </a:xfrm>
          <a:prstGeom prst="roundRect">
            <a:avLst>
              <a:gd name="adj" fmla="val 5128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75908" y="4297680"/>
            <a:ext cx="777240" cy="7772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2" name="Image 3" descr="C:\Users\LG\AppData\Local\Temp\claude\C--Users-LG-Downloads-Project-SYProject\9a7f8fe9-c2e4-43a6-afc6-0cb03955ce6b\scratchpad\ppt\icons\doll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445" y="4484218"/>
            <a:ext cx="404165" cy="40416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536028" y="4251960"/>
            <a:ext cx="37412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통제되는 운영 비용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536028" y="4672584"/>
            <a:ext cx="37412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61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사용량을 실시간으로 집계하고, 예산 상한을 자동으로 지킵니다.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0180015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3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 / 12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08415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3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마케팅 AI 분석기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80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TARGET &amp; VALUE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68096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52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반나절을 아껴드리나요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120640" cy="3794760"/>
          </a:xfrm>
          <a:prstGeom prst="roundRect">
            <a:avLst>
              <a:gd name="adj" fmla="val 241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377440"/>
            <a:ext cx="777240" cy="777240"/>
          </a:xfrm>
          <a:prstGeom prst="ellipse">
            <a:avLst/>
          </a:prstGeom>
          <a:solidFill>
            <a:srgbClr val="15213D"/>
          </a:solidFill>
          <a:ln/>
        </p:spPr>
      </p:sp>
      <p:pic>
        <p:nvPicPr>
          <p:cNvPr id="7" name="Image 0" descr="C:\Users\LG\AppData\Local\Temp\claude\C--Users-LG-Downloads-Project-SYProject\9a7f8fe9-c2e4-43a6-afc6-0cb03955ce6b\scratchpad\ppt\icons\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8098" y="2563978"/>
            <a:ext cx="404165" cy="4041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33375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팀에 필요합니다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51560" y="384048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52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대행사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5561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고객사의 리포트를 동시에 관리하는 팀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52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인하우스 마케팅팀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5561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매월 자체 채널 성과를 정리해 보고하는 팀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17920" y="1965960"/>
            <a:ext cx="5333695" cy="3794760"/>
          </a:xfrm>
          <a:prstGeom prst="roundRect">
            <a:avLst>
              <a:gd name="adj" fmla="val 2410"/>
            </a:avLst>
          </a:prstGeom>
          <a:solidFill>
            <a:srgbClr val="15213D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29400" y="2377440"/>
            <a:ext cx="640080" cy="64008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2" name="Image 1" descr="C:\Users\LG\AppData\Local\Temp\claude\C--Users-LG-Downloads-Project-SYProject\9a7f8fe9-c2e4-43a6-afc6-0cb03955ce6b\scratchpad\ppt\icons\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420" y="253746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629400" y="3383280"/>
            <a:ext cx="451073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D7E2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반나절의 반복 업무를 없애고,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시간을 성과 해석과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00C2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전략에 씁니다.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10180015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3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12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08415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3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마케팅 AI 분석기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80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68096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52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단계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332378" cy="3566160"/>
          </a:xfrm>
          <a:prstGeom prst="roundRect">
            <a:avLst>
              <a:gd name="adj" fmla="val 2744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423160"/>
            <a:ext cx="777240" cy="777240"/>
          </a:xfrm>
          <a:prstGeom prst="ellipse">
            <a:avLst/>
          </a:prstGeom>
          <a:solidFill>
            <a:srgbClr val="15213D"/>
          </a:solidFill>
          <a:ln/>
        </p:spPr>
      </p:sp>
      <p:pic>
        <p:nvPicPr>
          <p:cNvPr id="7" name="Image 0" descr="C:\Users\LG\AppData\Local\Temp\claude\C--Users-LG-Downloads-Project-SYProject\9a7f8fe9-c2e4-43a6-afc6-0cb03955ce6b\scratchpad\ppt\icons\check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922" y="2625242"/>
            <a:ext cx="373075" cy="3730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3337560"/>
            <a:ext cx="26008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80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05840" y="3611880"/>
            <a:ext cx="2600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리포트 자동화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05840" y="4114800"/>
            <a:ext cx="26008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5561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집계 · AI 코멘트 · 자동 발송까지 이미 완성되어 운영 중입니다.</a:t>
            </a:r>
            <a:endParaRPr lang="en-US" sz="1250" dirty="0"/>
          </a:p>
        </p:txBody>
      </p:sp>
      <p:pic>
        <p:nvPicPr>
          <p:cNvPr id="11" name="Image 1" descr="C:\Users\LG\AppData\Local\Temp\claude\C--Users-LG-Downloads-Project-SYProject\9a7f8fe9-c2e4-43a6-afc6-0cb03955ce6b\scratchpad\ppt\icons\arrow_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330" y="3730752"/>
            <a:ext cx="219456" cy="2194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429658" y="2057400"/>
            <a:ext cx="3332378" cy="3566160"/>
          </a:xfrm>
          <a:prstGeom prst="roundRect">
            <a:avLst>
              <a:gd name="adj" fmla="val 2744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795418" y="2423160"/>
            <a:ext cx="777240" cy="777240"/>
          </a:xfrm>
          <a:prstGeom prst="ellipse">
            <a:avLst/>
          </a:prstGeom>
          <a:solidFill>
            <a:srgbClr val="15213D"/>
          </a:solidFill>
          <a:ln/>
        </p:spPr>
      </p:sp>
      <p:pic>
        <p:nvPicPr>
          <p:cNvPr id="14" name="Image 2" descr="C:\Users\LG\AppData\Local\Temp\claude\C--Users-LG-Downloads-Project-SYProject\9a7f8fe9-c2e4-43a6-afc6-0cb03955ce6b\scratchpad\ppt\icons\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7501" y="2625242"/>
            <a:ext cx="373075" cy="37307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95418" y="3337560"/>
            <a:ext cx="26008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80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4795418" y="3611880"/>
            <a:ext cx="2600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똑똑한 분석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4795418" y="4114800"/>
            <a:ext cx="26008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5561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추이·이상치 자동 감지, 사용자별 AI 활용 리포트로 확장합니다.</a:t>
            </a:r>
            <a:endParaRPr lang="en-US" sz="1250" dirty="0"/>
          </a:p>
        </p:txBody>
      </p:sp>
      <p:pic>
        <p:nvPicPr>
          <p:cNvPr id="18" name="Image 3" descr="C:\Users\LG\AppData\Local\Temp\claude\C--Users-LG-Downloads-Project-SYProject\9a7f8fe9-c2e4-43a6-afc6-0cb03955ce6b\scratchpad\ppt\icons\arrow_r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0909" y="3730752"/>
            <a:ext cx="219456" cy="219456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8219237" y="2057400"/>
            <a:ext cx="3332378" cy="3566160"/>
          </a:xfrm>
          <a:prstGeom prst="roundRect">
            <a:avLst>
              <a:gd name="adj" fmla="val 2744"/>
            </a:avLst>
          </a:prstGeom>
          <a:solidFill>
            <a:srgbClr val="15213D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8584997" y="2423160"/>
            <a:ext cx="777240" cy="7772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1" name="Image 4" descr="C:\Users\LG\AppData\Local\Temp\claude\C--Users-LG-Downloads-Project-SYProject\9a7f8fe9-c2e4-43a6-afc6-0cb03955ce6b\scratchpad\ppt\icons\trending_u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9307" y="2617470"/>
            <a:ext cx="388620" cy="3886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584997" y="3337560"/>
            <a:ext cx="26008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C2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비전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8584997" y="3611880"/>
            <a:ext cx="2600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의사결정 자동화</a:t>
            </a:r>
            <a:endParaRPr lang="en-US" sz="1800" dirty="0"/>
          </a:p>
        </p:txBody>
      </p:sp>
      <p:sp>
        <p:nvSpPr>
          <p:cNvPr id="24" name="Text 17"/>
          <p:cNvSpPr/>
          <p:nvPr/>
        </p:nvSpPr>
        <p:spPr>
          <a:xfrm>
            <a:off x="8584997" y="4114800"/>
            <a:ext cx="26008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7E2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리포트를 넘어 다음 액션까지 함께 제안하는 마케팅 자동화로 나아갑니다.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10180015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3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12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206240"/>
            <a:ext cx="4754880" cy="4754880"/>
          </a:xfrm>
          <a:prstGeom prst="ellipse">
            <a:avLst/>
          </a:prstGeom>
          <a:solidFill>
            <a:srgbClr val="00C2A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645920"/>
            <a:ext cx="4206240" cy="4206240"/>
          </a:xfrm>
          <a:prstGeom prst="ellipse">
            <a:avLst/>
          </a:prstGeom>
          <a:solidFill>
            <a:srgbClr val="00C2A8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마케팅 AI 분석기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800" dirty="0">
                <a:solidFill>
                  <a:srgbClr val="D7E2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반나절의 반복 업무를,</a:t>
            </a:r>
            <a:endParaRPr lang="en-US" sz="3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성과를 만드는 시간으로.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40080" y="534924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7" name="Image 0" descr="C:\Users\LG\AppData\Local\Temp\claude\C--Users-LG-Downloads-Project-SYProject\9a7f8fe9-c2e4-43a6-afc6-0cb03955ce6b\scratchpad\ppt\icons\m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547497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53492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9511dasol@gmail.com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894015" y="53492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9B4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Business Plan ·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2026-08-11T04:33:04Z</dcterms:created>
  <dcterms:modified xsi:type="dcterms:W3CDTF">2026-08-11T04:33:04Z</dcterms:modified>
</cp:coreProperties>
</file>